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6"/>
    <p:restoredTop sz="94658"/>
  </p:normalViewPr>
  <p:slideViewPr>
    <p:cSldViewPr snapToGrid="0">
      <p:cViewPr varScale="1">
        <p:scale>
          <a:sx n="84" d="100"/>
          <a:sy n="84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37F5-F3CD-9317-95A5-ECF6DD7C4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EEB10-5455-2E32-A3ED-1E4C68D44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9C273-57FE-8558-BDFD-3924C25D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92D28-A880-FB99-D08C-0F4553CE3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15C29-56CE-3CB5-44E1-1B203715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5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6EAD-6563-C8CB-950C-D297BB9B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D2DA2-D4CB-59ED-EECE-CB4AF6505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A1B77-3A78-F109-F838-75E233C2A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112C3-26BA-7DE8-75A8-AAEE7975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5A8C6-CBFA-B525-762A-B2844A694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06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0A69-9B2D-0D38-361F-DD7044EC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6E0EF-F1B6-28ED-2A8C-C654A6AD0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CB040-31B6-279B-0448-54174550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3FC0A-3FE8-83A8-36FD-D3FBC0BD6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0AF64-7452-946F-D78F-C354AA0E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7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DCA41-6219-1FFE-1C31-543F778A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C4E32-E201-3FC6-7D9B-6327AAB23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62FF7-25AF-82DA-51BD-2AF011B9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6C21A-4CF7-0B6F-E14E-66301DA7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B8997-78E7-113E-D887-678CC178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023FF-43CA-E361-C7A4-DCD3CA87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8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E9D5-F6A4-3A05-E5DF-CE489A2F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514DF-D5E1-1D07-2690-62D5A53FB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101C9-A085-E9AA-68F0-EC0FB53FB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C7891-0F2D-2D60-5E58-144185F3B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E580C-5DB2-92C6-8EEC-C436A2312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5632B6-8957-9B89-8E07-356D6FB5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0905B-2F0D-F7DA-5A14-E2CD5FD0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76842-A9EB-6141-6022-1AECA76B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DB09-87F6-8C30-0EE6-33EDB01F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315EF-C830-0AC6-7E4B-94B104AD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91B25-E052-4A3A-462E-CBE62218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B6FBF-FCEB-9113-F7A2-30F73324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6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DDD4C8-899D-0212-D450-1F7E2A9B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85FCF-F3F3-526B-D219-F7BEDA61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C3B82-18F6-DC1D-F518-962FF846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7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9226B-BE96-B595-1DCA-7D69257F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9FC25-B349-E29A-50D6-DFE41903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DDDAE-F1A3-8083-BFF3-193F8A03F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28391-B41B-031B-A511-41239EB4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24481-9896-1827-5E3B-6B055E8C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5A330-0E0B-4E42-F85A-7E5131CF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8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507B-1082-426F-72EF-743A9CDB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0EE881-E277-DB36-10AD-43AB52E0E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FEFFD-C148-D225-91B5-09AF23AEC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07396-F158-02A6-11C1-2428E0A2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5227B-4F95-E939-34AF-7B9376AF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A6D6-68E7-3579-0641-864FC28F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1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C4C7-DD88-DA96-9E6F-983AFCA1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1706B-B75F-5DB9-91D7-35E4DCD17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DA592-2BC2-768C-E293-00D870649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22913-7956-7ADB-238F-6E5FCB19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A269E-6284-F3F3-7F90-60C4437F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BD2AD-BE2A-F540-A2E5-D4342CDD2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12D49-BD78-9024-EC38-E7F96E15E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D1983-65E2-F2DC-E975-F3427358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A8E30-FFE8-1D16-76D6-26F133BF6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98A12-F9E1-64EE-E9EB-50653539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1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09601-E0A4-4685-0529-CF9C7A420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6BE59-A52C-4B5F-0393-C1CBBEDA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D6116-9978-CE65-72CE-4C6050675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09FA7-F0F4-7044-8103-F2939426135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D8E55-B247-12F6-7092-25EF1C22D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1C3E0-F7E4-4D55-4C7B-5B120BE77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479C8-E2C9-DE42-B1E3-9D987FB5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9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C2C8D4-4E12-D11B-6E4C-F9DC833EBF8D}"/>
              </a:ext>
            </a:extLst>
          </p:cNvPr>
          <p:cNvSpPr txBox="1"/>
          <p:nvPr/>
        </p:nvSpPr>
        <p:spPr>
          <a:xfrm>
            <a:off x="3048000" y="197346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marsh_ID</a:t>
            </a:r>
            <a:r>
              <a:rPr lang="en-US" dirty="0">
                <a:effectLst/>
                <a:latin typeface="Helvetica Neue" panose="02000503000000020004" pitchFamily="2" charset="0"/>
              </a:rPr>
              <a:t>: 4 levels categorical variable-&gt; B, G, C, 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marsh_edge_type</a:t>
            </a:r>
            <a:r>
              <a:rPr lang="en-US" dirty="0">
                <a:effectLst/>
                <a:latin typeface="Helvetica Neue" panose="02000503000000020004" pitchFamily="2" charset="0"/>
              </a:rPr>
              <a:t>: 2 level categorical variable-&gt; scarped vs sloped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marsh_orientation</a:t>
            </a:r>
            <a:r>
              <a:rPr lang="en-US" dirty="0">
                <a:effectLst/>
                <a:latin typeface="Helvetica Neue" panose="02000503000000020004" pitchFamily="2" charset="0"/>
              </a:rPr>
              <a:t>: 2-level categorical variable-&gt; east vs west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marsh_channel_adjacency</a:t>
            </a:r>
            <a:r>
              <a:rPr lang="en-US" dirty="0">
                <a:effectLst/>
                <a:latin typeface="Helvetica Neue" panose="02000503000000020004" pitchFamily="2" charset="0"/>
              </a:rPr>
              <a:t>: 2-level categorical variable-&gt; adjacent vs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non_adjacent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age: 4 numbers, one per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marsh_ID</a:t>
            </a:r>
            <a:r>
              <a:rPr lang="en-US" dirty="0">
                <a:effectLst/>
                <a:latin typeface="Helvetica Neue" panose="02000503000000020004" pitchFamily="2" charset="0"/>
              </a:rPr>
              <a:t>-&gt; consider making categorical,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f.ex</a:t>
            </a:r>
            <a:r>
              <a:rPr lang="en-US" dirty="0">
                <a:effectLst/>
                <a:latin typeface="Helvetica Neue" panose="02000503000000020004" pitchFamily="2" charset="0"/>
              </a:rPr>
              <a:t>. young vs 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transect_ID</a:t>
            </a:r>
            <a:r>
              <a:rPr lang="en-US" dirty="0">
                <a:effectLst/>
                <a:latin typeface="Helvetica Neue" panose="02000503000000020004" pitchFamily="2" charset="0"/>
              </a:rPr>
              <a:t>: 2-level categorical variable-&gt; t1 vs t2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transect_slope_change</a:t>
            </a:r>
            <a:r>
              <a:rPr lang="en-US" dirty="0">
                <a:effectLst/>
                <a:latin typeface="Helvetica Neue" panose="02000503000000020004" pitchFamily="2" charset="0"/>
              </a:rPr>
              <a:t>: 1 number per transect (8 different numbers)-&gt; whether to treat it as continuous or categorical variable depends on research question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distance_to_edge</a:t>
            </a:r>
            <a:r>
              <a:rPr lang="en-US" dirty="0">
                <a:effectLst/>
                <a:latin typeface="Helvetica Neue" panose="02000503000000020004" pitchFamily="2" charset="0"/>
              </a:rPr>
              <a:t>: if log-transformed, it can be treated as continuous variable; for comparison with Karen’s data: to get both datasets on a comparable scale-&gt; categorize distances into closest, middle, furthest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sediment_weight</a:t>
            </a:r>
            <a:r>
              <a:rPr lang="en-US" dirty="0">
                <a:effectLst/>
                <a:latin typeface="Helvetica Neue" panose="02000503000000020004" pitchFamily="2" charset="0"/>
              </a:rPr>
              <a:t>: continuous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month: treated as continuous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season: 4-level categorical variable-&gt; summer, fall, winter, spring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tidal_type</a:t>
            </a:r>
            <a:r>
              <a:rPr lang="en-US" dirty="0">
                <a:effectLst/>
                <a:latin typeface="Helvetica Neue" panose="02000503000000020004" pitchFamily="2" charset="0"/>
              </a:rPr>
              <a:t>: 2-level categorical variable-&gt; neap vs spring</a:t>
            </a:r>
          </a:p>
          <a:p>
            <a:pPr>
              <a:buNone/>
            </a:pPr>
            <a:r>
              <a:rPr lang="en-US" dirty="0">
                <a:effectLst/>
                <a:latin typeface="Menlo" panose="020B0609030804020204" pitchFamily="49" charset="0"/>
              </a:rPr>
              <a:t>• •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inorganic_sediment_weight</a:t>
            </a:r>
            <a:r>
              <a:rPr lang="en-US" dirty="0">
                <a:effectLst/>
                <a:latin typeface="Helvetica Neue" panose="02000503000000020004" pitchFamily="2" charset="0"/>
              </a:rPr>
              <a:t>: continuous variable</a:t>
            </a:r>
          </a:p>
        </p:txBody>
      </p:sp>
    </p:spTree>
    <p:extLst>
      <p:ext uri="{BB962C8B-B14F-4D97-AF65-F5344CB8AC3E}">
        <p14:creationId xmlns:p14="http://schemas.microsoft.com/office/powerpoint/2010/main" val="164325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130598-4556-7F16-8AF2-D6201D1141D2}"/>
              </a:ext>
            </a:extLst>
          </p:cNvPr>
          <p:cNvSpPr txBox="1"/>
          <p:nvPr/>
        </p:nvSpPr>
        <p:spPr>
          <a:xfrm>
            <a:off x="5174433" y="2897436"/>
            <a:ext cx="18431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Sediment weight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EFED5C-D310-A733-C916-71341B20A01A}"/>
              </a:ext>
            </a:extLst>
          </p:cNvPr>
          <p:cNvSpPr txBox="1"/>
          <p:nvPr/>
        </p:nvSpPr>
        <p:spPr>
          <a:xfrm>
            <a:off x="1017794" y="2275274"/>
            <a:ext cx="1614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Month/season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76974-FC7B-31B7-C6B3-9E88A867AB25}"/>
              </a:ext>
            </a:extLst>
          </p:cNvPr>
          <p:cNvSpPr txBox="1"/>
          <p:nvPr/>
        </p:nvSpPr>
        <p:spPr>
          <a:xfrm>
            <a:off x="2902385" y="2897436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Vegetation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B557E-CDD4-78D8-6AC5-DB524512BF7E}"/>
              </a:ext>
            </a:extLst>
          </p:cNvPr>
          <p:cNvSpPr txBox="1"/>
          <p:nvPr/>
        </p:nvSpPr>
        <p:spPr>
          <a:xfrm>
            <a:off x="1527586" y="4711849"/>
            <a:ext cx="201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Marsh_edge_type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E9A93-172C-1A7E-B9EA-F3E10D77B19E}"/>
              </a:ext>
            </a:extLst>
          </p:cNvPr>
          <p:cNvSpPr txBox="1"/>
          <p:nvPr/>
        </p:nvSpPr>
        <p:spPr>
          <a:xfrm>
            <a:off x="1720373" y="5780442"/>
            <a:ext cx="2099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Marsh_orientation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16C76-54F9-C324-41C8-F6601B9AC7B1}"/>
              </a:ext>
            </a:extLst>
          </p:cNvPr>
          <p:cNvSpPr txBox="1"/>
          <p:nvPr/>
        </p:nvSpPr>
        <p:spPr>
          <a:xfrm>
            <a:off x="424149" y="5780442"/>
            <a:ext cx="55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C5BEEC1-DEEB-5CEA-D82E-C1192C062E1B}"/>
              </a:ext>
            </a:extLst>
          </p:cNvPr>
          <p:cNvSpPr/>
          <p:nvPr/>
        </p:nvSpPr>
        <p:spPr>
          <a:xfrm>
            <a:off x="806824" y="5088367"/>
            <a:ext cx="1376978" cy="731520"/>
          </a:xfrm>
          <a:custGeom>
            <a:avLst/>
            <a:gdLst>
              <a:gd name="csX0" fmla="*/ 0 w 1376978"/>
              <a:gd name="csY0" fmla="*/ 731520 h 731520"/>
              <a:gd name="csX1" fmla="*/ 1376978 w 1376978"/>
              <a:gd name="csY1" fmla="*/ 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76978" h="731520">
                <a:moveTo>
                  <a:pt x="0" y="731520"/>
                </a:moveTo>
                <a:lnTo>
                  <a:pt x="1376978" y="0"/>
                </a:ln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ACA780-7108-60D8-8523-61F2F7B81847}"/>
              </a:ext>
            </a:extLst>
          </p:cNvPr>
          <p:cNvCxnSpPr>
            <a:cxnSpLocks/>
          </p:cNvCxnSpPr>
          <p:nvPr/>
        </p:nvCxnSpPr>
        <p:spPr>
          <a:xfrm flipV="1">
            <a:off x="2398955" y="5088367"/>
            <a:ext cx="220532" cy="692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8DECE4-0BDF-A257-E88A-5866A764CAF3}"/>
              </a:ext>
            </a:extLst>
          </p:cNvPr>
          <p:cNvCxnSpPr>
            <a:cxnSpLocks/>
          </p:cNvCxnSpPr>
          <p:nvPr/>
        </p:nvCxnSpPr>
        <p:spPr>
          <a:xfrm flipV="1">
            <a:off x="3512263" y="3338099"/>
            <a:ext cx="2350655" cy="2483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05DBAA0-450E-1353-D9BD-0B61EA66AC4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145033" y="3082102"/>
            <a:ext cx="930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D3448B-EB84-6B75-D016-43D9CE423F3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393779" y="2652674"/>
            <a:ext cx="508606" cy="429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>
            <a:extLst>
              <a:ext uri="{FF2B5EF4-FFF2-40B4-BE49-F238E27FC236}">
                <a16:creationId xmlns:a16="http://schemas.microsoft.com/office/drawing/2014/main" id="{DBA39405-E03B-96D3-058F-E2FC3FD7EF3B}"/>
              </a:ext>
            </a:extLst>
          </p:cNvPr>
          <p:cNvSpPr/>
          <p:nvPr/>
        </p:nvSpPr>
        <p:spPr>
          <a:xfrm>
            <a:off x="2631259" y="3318795"/>
            <a:ext cx="2769521" cy="1428884"/>
          </a:xfrm>
          <a:custGeom>
            <a:avLst/>
            <a:gdLst>
              <a:gd name="csX0" fmla="*/ 0 w 1376978"/>
              <a:gd name="csY0" fmla="*/ 731520 h 731520"/>
              <a:gd name="csX1" fmla="*/ 1376978 w 1376978"/>
              <a:gd name="csY1" fmla="*/ 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76978" h="731520">
                <a:moveTo>
                  <a:pt x="0" y="731520"/>
                </a:moveTo>
                <a:lnTo>
                  <a:pt x="1376978" y="0"/>
                </a:ln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0298E0E2-4B5E-D579-8D76-B7E1D3AD051D}"/>
              </a:ext>
            </a:extLst>
          </p:cNvPr>
          <p:cNvSpPr/>
          <p:nvPr/>
        </p:nvSpPr>
        <p:spPr>
          <a:xfrm>
            <a:off x="722517" y="3227367"/>
            <a:ext cx="2277928" cy="2553075"/>
          </a:xfrm>
          <a:custGeom>
            <a:avLst/>
            <a:gdLst>
              <a:gd name="csX0" fmla="*/ 0 w 1376978"/>
              <a:gd name="csY0" fmla="*/ 731520 h 731520"/>
              <a:gd name="csX1" fmla="*/ 1376978 w 1376978"/>
              <a:gd name="csY1" fmla="*/ 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76978" h="731520">
                <a:moveTo>
                  <a:pt x="0" y="731520"/>
                </a:moveTo>
                <a:lnTo>
                  <a:pt x="1376978" y="0"/>
                </a:ln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AC7B1C-2DC2-64E3-3421-B8B03FDB144C}"/>
              </a:ext>
            </a:extLst>
          </p:cNvPr>
          <p:cNvSpPr txBox="1"/>
          <p:nvPr/>
        </p:nvSpPr>
        <p:spPr>
          <a:xfrm>
            <a:off x="5823880" y="4803411"/>
            <a:ext cx="11017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Elevation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B4A364-45E6-CFA3-989C-D002CE5C7A4B}"/>
              </a:ext>
            </a:extLst>
          </p:cNvPr>
          <p:cNvCxnSpPr>
            <a:cxnSpLocks/>
          </p:cNvCxnSpPr>
          <p:nvPr/>
        </p:nvCxnSpPr>
        <p:spPr>
          <a:xfrm flipH="1" flipV="1">
            <a:off x="6165211" y="3338099"/>
            <a:ext cx="83297" cy="1409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73B8D94-0063-1916-AFF5-18AE5A748560}"/>
              </a:ext>
            </a:extLst>
          </p:cNvPr>
          <p:cNvCxnSpPr>
            <a:cxnSpLocks/>
          </p:cNvCxnSpPr>
          <p:nvPr/>
        </p:nvCxnSpPr>
        <p:spPr>
          <a:xfrm flipH="1">
            <a:off x="3458820" y="4926964"/>
            <a:ext cx="1459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CF3EA4-6773-ACDF-2098-87B3899B1408}"/>
              </a:ext>
            </a:extLst>
          </p:cNvPr>
          <p:cNvCxnSpPr>
            <a:cxnSpLocks/>
          </p:cNvCxnSpPr>
          <p:nvPr/>
        </p:nvCxnSpPr>
        <p:spPr>
          <a:xfrm flipV="1">
            <a:off x="3710669" y="5117011"/>
            <a:ext cx="1829519" cy="883581"/>
          </a:xfrm>
          <a:prstGeom prst="straightConnector1">
            <a:avLst/>
          </a:prstGeom>
          <a:ln>
            <a:solidFill>
              <a:schemeClr val="accent1">
                <a:alpha val="14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3F5F67-F87E-197F-AEAE-A67408B34FB5}"/>
              </a:ext>
            </a:extLst>
          </p:cNvPr>
          <p:cNvCxnSpPr>
            <a:cxnSpLocks/>
          </p:cNvCxnSpPr>
          <p:nvPr/>
        </p:nvCxnSpPr>
        <p:spPr>
          <a:xfrm flipH="1" flipV="1">
            <a:off x="3658140" y="3257915"/>
            <a:ext cx="1837289" cy="1539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F0850E1-4581-B48F-98F8-2D9C88365BA5}"/>
              </a:ext>
            </a:extLst>
          </p:cNvPr>
          <p:cNvSpPr txBox="1"/>
          <p:nvPr/>
        </p:nvSpPr>
        <p:spPr>
          <a:xfrm>
            <a:off x="662114" y="3697197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Tidal_type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D2854D-D82E-09A2-DCA5-EEA4DFDF428A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1861481" y="3261387"/>
            <a:ext cx="3237006" cy="620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9CBC011-5AC9-DF65-C972-8F114DD5A387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1261798" y="2623029"/>
            <a:ext cx="504592" cy="1074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B235B17-99B4-8D40-A4F4-0D23CB2AB391}"/>
              </a:ext>
            </a:extLst>
          </p:cNvPr>
          <p:cNvSpPr txBox="1"/>
          <p:nvPr/>
        </p:nvSpPr>
        <p:spPr>
          <a:xfrm>
            <a:off x="8034837" y="2897436"/>
            <a:ext cx="197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Distance_to_edge</a:t>
            </a:r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E4FA89C-E544-6C77-8B58-DD10A8D18363}"/>
              </a:ext>
            </a:extLst>
          </p:cNvPr>
          <p:cNvCxnSpPr>
            <a:cxnSpLocks/>
          </p:cNvCxnSpPr>
          <p:nvPr/>
        </p:nvCxnSpPr>
        <p:spPr>
          <a:xfrm flipH="1">
            <a:off x="7060598" y="3082102"/>
            <a:ext cx="10172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89079E3-3983-8058-D1C0-668F27E28FC7}"/>
              </a:ext>
            </a:extLst>
          </p:cNvPr>
          <p:cNvCxnSpPr/>
          <p:nvPr/>
        </p:nvCxnSpPr>
        <p:spPr>
          <a:xfrm flipV="1">
            <a:off x="7358231" y="3338099"/>
            <a:ext cx="1430767" cy="13737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42880B8-F90A-9239-075E-C33DA544569C}"/>
              </a:ext>
            </a:extLst>
          </p:cNvPr>
          <p:cNvCxnSpPr>
            <a:cxnSpLocks/>
          </p:cNvCxnSpPr>
          <p:nvPr/>
        </p:nvCxnSpPr>
        <p:spPr>
          <a:xfrm>
            <a:off x="2649300" y="2487339"/>
            <a:ext cx="2426481" cy="395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7FD4BC5-2C2F-60F0-7237-D67FDEECF82B}"/>
              </a:ext>
            </a:extLst>
          </p:cNvPr>
          <p:cNvSpPr txBox="1"/>
          <p:nvPr/>
        </p:nvSpPr>
        <p:spPr>
          <a:xfrm>
            <a:off x="5795022" y="2699147"/>
            <a:ext cx="13211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Dependent variable</a:t>
            </a:r>
          </a:p>
        </p:txBody>
      </p:sp>
    </p:spTree>
    <p:extLst>
      <p:ext uri="{BB962C8B-B14F-4D97-AF65-F5344CB8AC3E}">
        <p14:creationId xmlns:p14="http://schemas.microsoft.com/office/powerpoint/2010/main" val="172701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4CDEC-D2C7-1A92-DE63-AD7E9EEF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F7ED4E-7335-5123-72B8-4BDB95A6AD42}"/>
              </a:ext>
            </a:extLst>
          </p:cNvPr>
          <p:cNvSpPr txBox="1"/>
          <p:nvPr/>
        </p:nvSpPr>
        <p:spPr>
          <a:xfrm>
            <a:off x="5174433" y="2897436"/>
            <a:ext cx="19409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Sediment weight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4E95F-463F-70F4-D8BF-915B3875CE28}"/>
              </a:ext>
            </a:extLst>
          </p:cNvPr>
          <p:cNvSpPr txBox="1"/>
          <p:nvPr/>
        </p:nvSpPr>
        <p:spPr>
          <a:xfrm>
            <a:off x="5288822" y="1227888"/>
            <a:ext cx="169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Month/season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2B6E84-3C69-5FED-7FA3-2FA8B727A779}"/>
              </a:ext>
            </a:extLst>
          </p:cNvPr>
          <p:cNvSpPr txBox="1"/>
          <p:nvPr/>
        </p:nvSpPr>
        <p:spPr>
          <a:xfrm>
            <a:off x="4141975" y="1901816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Vegetation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24D58-398E-B605-5848-D3B232713313}"/>
              </a:ext>
            </a:extLst>
          </p:cNvPr>
          <p:cNvSpPr txBox="1"/>
          <p:nvPr/>
        </p:nvSpPr>
        <p:spPr>
          <a:xfrm>
            <a:off x="2337587" y="2894376"/>
            <a:ext cx="201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Marsh_edge_type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30C131-EC7B-2D4B-F6E5-43F35190250C}"/>
              </a:ext>
            </a:extLst>
          </p:cNvPr>
          <p:cNvSpPr txBox="1"/>
          <p:nvPr/>
        </p:nvSpPr>
        <p:spPr>
          <a:xfrm>
            <a:off x="2192915" y="3989862"/>
            <a:ext cx="1343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Marsh</a:t>
            </a:r>
          </a:p>
          <a:p>
            <a:pPr algn="ctr"/>
            <a:r>
              <a:rPr lang="en-US" b="1" dirty="0"/>
              <a:t>orientation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90AF3-A171-8FBF-19FC-09273741951E}"/>
              </a:ext>
            </a:extLst>
          </p:cNvPr>
          <p:cNvSpPr txBox="1"/>
          <p:nvPr/>
        </p:nvSpPr>
        <p:spPr>
          <a:xfrm>
            <a:off x="2589524" y="1901816"/>
            <a:ext cx="55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E145F3-4B9D-7A71-D13F-EC1DD2DBA371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864638" y="3263708"/>
            <a:ext cx="478866" cy="726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A0ED83-2134-F3D7-1C53-BB50CB479AD7}"/>
              </a:ext>
            </a:extLst>
          </p:cNvPr>
          <p:cNvCxnSpPr>
            <a:cxnSpLocks/>
          </p:cNvCxnSpPr>
          <p:nvPr/>
        </p:nvCxnSpPr>
        <p:spPr>
          <a:xfrm flipV="1">
            <a:off x="3277416" y="3429000"/>
            <a:ext cx="2107207" cy="73380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391880-29A8-BBB9-753C-1438C79D46CB}"/>
              </a:ext>
            </a:extLst>
          </p:cNvPr>
          <p:cNvCxnSpPr>
            <a:cxnSpLocks/>
          </p:cNvCxnSpPr>
          <p:nvPr/>
        </p:nvCxnSpPr>
        <p:spPr>
          <a:xfrm>
            <a:off x="4819777" y="2283432"/>
            <a:ext cx="469045" cy="4157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834546-F651-B107-4168-EA71A66995E0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4763299" y="1570134"/>
            <a:ext cx="525523" cy="331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5F0DDED-122F-2934-CB96-39B5DDA55338}"/>
              </a:ext>
            </a:extLst>
          </p:cNvPr>
          <p:cNvSpPr txBox="1"/>
          <p:nvPr/>
        </p:nvSpPr>
        <p:spPr>
          <a:xfrm>
            <a:off x="5692627" y="4253279"/>
            <a:ext cx="11017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Elevation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9BCA866-4DCD-25BF-68AA-A122C6DD10EE}"/>
              </a:ext>
            </a:extLst>
          </p:cNvPr>
          <p:cNvCxnSpPr>
            <a:cxnSpLocks/>
          </p:cNvCxnSpPr>
          <p:nvPr/>
        </p:nvCxnSpPr>
        <p:spPr>
          <a:xfrm flipV="1">
            <a:off x="6165211" y="3382167"/>
            <a:ext cx="0" cy="81407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C53D3C-570D-CE06-24B1-E5817D4D114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334416" y="4437945"/>
            <a:ext cx="1358211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D800FCF-357E-73D6-BE6A-9A6D7786633C}"/>
              </a:ext>
            </a:extLst>
          </p:cNvPr>
          <p:cNvCxnSpPr>
            <a:cxnSpLocks/>
          </p:cNvCxnSpPr>
          <p:nvPr/>
        </p:nvCxnSpPr>
        <p:spPr>
          <a:xfrm flipH="1" flipV="1">
            <a:off x="3551086" y="3285724"/>
            <a:ext cx="1896694" cy="978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5625165-3EF4-4695-80A3-E64919735877}"/>
              </a:ext>
            </a:extLst>
          </p:cNvPr>
          <p:cNvSpPr txBox="1"/>
          <p:nvPr/>
        </p:nvSpPr>
        <p:spPr>
          <a:xfrm>
            <a:off x="834590" y="2641439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Tidal_type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C613350-B548-AD0D-9DA4-0181C1B64C8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058728" y="2953063"/>
            <a:ext cx="278859" cy="125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B28C838-C889-A860-F748-4EAEAD208156}"/>
              </a:ext>
            </a:extLst>
          </p:cNvPr>
          <p:cNvCxnSpPr>
            <a:cxnSpLocks/>
          </p:cNvCxnSpPr>
          <p:nvPr/>
        </p:nvCxnSpPr>
        <p:spPr>
          <a:xfrm flipH="1">
            <a:off x="6794339" y="2283432"/>
            <a:ext cx="460371" cy="3751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E984867-1DE6-A98E-0F66-40ED61FE6B26}"/>
              </a:ext>
            </a:extLst>
          </p:cNvPr>
          <p:cNvSpPr txBox="1"/>
          <p:nvPr/>
        </p:nvSpPr>
        <p:spPr>
          <a:xfrm>
            <a:off x="7907517" y="2897436"/>
            <a:ext cx="205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Distance_to_edge</a:t>
            </a:r>
            <a:endParaRPr lang="en-US" b="1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3C56A2-1849-9DB3-8307-0748A77B675F}"/>
              </a:ext>
            </a:extLst>
          </p:cNvPr>
          <p:cNvCxnSpPr>
            <a:cxnSpLocks/>
          </p:cNvCxnSpPr>
          <p:nvPr/>
        </p:nvCxnSpPr>
        <p:spPr>
          <a:xfrm flipH="1">
            <a:off x="7176347" y="3082102"/>
            <a:ext cx="694440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CDE7782-90C5-CB4B-E066-AB6838908172}"/>
              </a:ext>
            </a:extLst>
          </p:cNvPr>
          <p:cNvCxnSpPr>
            <a:cxnSpLocks/>
          </p:cNvCxnSpPr>
          <p:nvPr/>
        </p:nvCxnSpPr>
        <p:spPr>
          <a:xfrm flipV="1">
            <a:off x="6955290" y="3338099"/>
            <a:ext cx="1833708" cy="9257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6911680-0636-CEB0-3327-DEE5CAAB7F6B}"/>
              </a:ext>
            </a:extLst>
          </p:cNvPr>
          <p:cNvCxnSpPr>
            <a:cxnSpLocks/>
          </p:cNvCxnSpPr>
          <p:nvPr/>
        </p:nvCxnSpPr>
        <p:spPr>
          <a:xfrm>
            <a:off x="6146334" y="1597220"/>
            <a:ext cx="0" cy="10613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BCC5E63-8C8D-C876-B71B-41EABADEEAAD}"/>
              </a:ext>
            </a:extLst>
          </p:cNvPr>
          <p:cNvSpPr txBox="1"/>
          <p:nvPr/>
        </p:nvSpPr>
        <p:spPr>
          <a:xfrm>
            <a:off x="5447780" y="2699147"/>
            <a:ext cx="13211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Dependent variable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6DC19D7-AC6A-4573-3DBC-96AFD5E00E68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185836" y="2086125"/>
            <a:ext cx="956139" cy="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57A21E8-B87C-585C-4FC7-486DF33B5E18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>
            <a:off x="2868383" y="2271148"/>
            <a:ext cx="475121" cy="623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D3A9B9B-207F-807B-735F-FC737324E4A0}"/>
              </a:ext>
            </a:extLst>
          </p:cNvPr>
          <p:cNvCxnSpPr>
            <a:cxnSpLocks/>
          </p:cNvCxnSpPr>
          <p:nvPr/>
        </p:nvCxnSpPr>
        <p:spPr>
          <a:xfrm>
            <a:off x="4355820" y="3101210"/>
            <a:ext cx="6723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3F2414-686B-153D-6100-E31BA4434442}"/>
              </a:ext>
            </a:extLst>
          </p:cNvPr>
          <p:cNvSpPr txBox="1"/>
          <p:nvPr/>
        </p:nvSpPr>
        <p:spPr>
          <a:xfrm>
            <a:off x="4508378" y="276839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7ABC80-4249-0591-030A-EE8B0A74D0FD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1434274" y="3010771"/>
            <a:ext cx="833438" cy="979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37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256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Jill Kries</dc:creator>
  <cp:lastModifiedBy>Savannah Karin Miller</cp:lastModifiedBy>
  <cp:revision>16</cp:revision>
  <dcterms:created xsi:type="dcterms:W3CDTF">2026-03-28T02:04:13Z</dcterms:created>
  <dcterms:modified xsi:type="dcterms:W3CDTF">2026-07-29T08:41:38Z</dcterms:modified>
</cp:coreProperties>
</file>